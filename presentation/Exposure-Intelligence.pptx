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liquidity_drop</c:v>
                  </c:pt>
                  <c:pt idx="1">
                    <c:v>unverified_large</c:v>
                  </c:pt>
                  <c:pt idx="2">
                    <c:v>high_util</c:v>
                  </c:pt>
                  <c:pt idx="3">
                    <c:v>collateral_adopt</c:v>
                  </c:pt>
                  <c:pt idx="4">
                    <c:v>util_jump</c:v>
                  </c:pt>
                  <c:pt idx="5">
                    <c:v>supply_spike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31</c:v>
                </c:pt>
                <c:pt idx="2">
                  <c:v>30</c:v>
                </c:pt>
                <c:pt idx="3">
                  <c:v>24</c:v>
                </c:pt>
                <c:pt idx="4">
                  <c:v>19</c:v>
                </c:pt>
                <c:pt idx="5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1F5F9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7A6C2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2030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D33"/>
        </a:solidFill>
        <a:ln>
          <a:noFill/>
        </a:ln>
        <a:effectLst/>
      </c:spPr>
    </c:plotArea>
    <c:plotVisOnly val="1"/>
    <c:dispBlanksAs val="span"/>
  </c:chart>
  <c:spPr>
    <a:solidFill>
      <a:srgbClr val="151D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6035040" cy="603504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2237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68680"/>
            <a:ext cx="4663440" cy="466344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1E2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554480"/>
            <a:ext cx="3291840" cy="329184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2237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2240280"/>
            <a:ext cx="1920240" cy="192024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1E2E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20072" y="11887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12051792" y="3136392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Shape 6"/>
          <p:cNvSpPr/>
          <p:nvPr/>
        </p:nvSpPr>
        <p:spPr>
          <a:xfrm>
            <a:off x="8074152" y="331927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4096512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0" name="Shape 8"/>
          <p:cNvSpPr/>
          <p:nvPr/>
        </p:nvSpPr>
        <p:spPr>
          <a:xfrm>
            <a:off x="8805672" y="171907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11274552" y="1399032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5512" y="4690872"/>
            <a:ext cx="146304" cy="146304"/>
          </a:xfrm>
          <a:prstGeom prst="ellipse">
            <a:avLst/>
          </a:prstGeom>
          <a:solidFill>
            <a:srgbClr val="FB4D6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65208" y="3081528"/>
            <a:ext cx="237744" cy="237744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SPIRAL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148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Exposure</a:t>
            </a:r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Intelligence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큐레이터 토큰 익스포저 매핑  +  결정론적 리스크 알림 엔진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“큐레이터가 토큰을 화이트리스트하기 전, 그 토큰의 모든 온체인 익스포저를 한 화면에서 실사한다.”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5875">
            <a:solidFill>
              <a:srgbClr val="29D0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860036"/>
            <a:ext cx="128016" cy="128016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" y="470916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 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377440" y="4709160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5875">
            <a:solidFill>
              <a:srgbClr val="29D0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8608" y="4860036"/>
            <a:ext cx="128016" cy="128016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23" name="Text 21"/>
          <p:cNvSpPr/>
          <p:nvPr/>
        </p:nvSpPr>
        <p:spPr>
          <a:xfrm>
            <a:off x="2798064" y="470916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 GREEN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57800" y="470916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5875">
            <a:solidFill>
              <a:srgbClr val="29D0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4860036"/>
            <a:ext cx="128016" cy="128016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26" name="Text 24"/>
          <p:cNvSpPr/>
          <p:nvPr/>
        </p:nvSpPr>
        <p:spPr>
          <a:xfrm>
            <a:off x="5678424" y="47091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OK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6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Upside Academy · 두나무 × Theori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6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멘토: Hyperithm VP  ·  2026-06-08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 /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큐레이터는 받기 전, 그 토큰을 다 볼 수 없다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126480" cy="932688"/>
          </a:xfrm>
          <a:prstGeom prst="roundRect">
            <a:avLst>
              <a:gd name="adj" fmla="val 8824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0219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흩어진 익스포저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12264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토큰이 수십 개 프로토콜·체인·마켓·볼트에 담보/공급/LP로 분산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6126480" cy="932688"/>
          </a:xfrm>
          <a:prstGeom prst="roundRect">
            <a:avLst>
              <a:gd name="adj" fmla="val 8824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53512"/>
            <a:ext cx="566928" cy="56692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A52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310091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8950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안 보이는 실사 포인트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08760" y="3191256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 박혔는지, 청산 바닥(LLTV)이 어딘지, 빠질 수 있는 유동성이 얼만지 한눈에 안 보임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9624"/>
            <a:ext cx="6126480" cy="932688"/>
          </a:xfrm>
          <a:prstGeom prst="roundRect">
            <a:avLst>
              <a:gd name="adj" fmla="val 8824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32504"/>
            <a:ext cx="566928" cy="56692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B4D6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417990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 단위로 터지는 사고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427024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청산은 분 단위인데 실사는 수동·산발적 — 사후에야 안다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949440" y="1691640"/>
            <a:ext cx="4690872" cy="3227832"/>
          </a:xfrm>
          <a:prstGeom prst="roundRect">
            <a:avLst>
              <a:gd name="adj" fmla="val 2550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178040" y="1874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예 · USDe 익스포저 집중도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178040" y="21945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HHI </a:t>
            </a:r>
            <a:pPr indent="0" marL="0">
              <a:buNone/>
            </a:pPr>
            <a:r>
              <a:rPr lang="en-US" sz="4000" b="1" dirty="0">
                <a:solidFill>
                  <a:srgbClr val="FB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</a:t>
            </a:r>
            <a:pPr indent="0" marL="0">
              <a:buNone/>
            </a:pPr>
            <a:r>
              <a:rPr lang="en-US" sz="1600" b="1" dirty="0">
                <a:solidFill>
                  <a:srgbClr val="FB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위험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7178040" y="3154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 V3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61120" y="3200400"/>
            <a:ext cx="2331720" cy="201168"/>
          </a:xfrm>
          <a:prstGeom prst="rect">
            <a:avLst/>
          </a:prstGeom>
          <a:solidFill>
            <a:srgbClr val="0E1426"/>
          </a:solidFill>
          <a:ln/>
        </p:spPr>
      </p:sp>
      <p:sp>
        <p:nvSpPr>
          <p:cNvPr id="24" name="Shape 19"/>
          <p:cNvSpPr/>
          <p:nvPr/>
        </p:nvSpPr>
        <p:spPr>
          <a:xfrm>
            <a:off x="8961120" y="3200400"/>
            <a:ext cx="2005279" cy="201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0"/>
          <p:cNvSpPr/>
          <p:nvPr/>
        </p:nvSpPr>
        <p:spPr>
          <a:xfrm>
            <a:off x="10972800" y="31546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86%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178040" y="3703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Finance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961120" y="3749040"/>
            <a:ext cx="2331720" cy="201168"/>
          </a:xfrm>
          <a:prstGeom prst="rect">
            <a:avLst/>
          </a:prstGeom>
          <a:solidFill>
            <a:srgbClr val="0E1426"/>
          </a:solidFill>
          <a:ln/>
        </p:spPr>
      </p:sp>
      <p:sp>
        <p:nvSpPr>
          <p:cNvPr id="28" name="Shape 23"/>
          <p:cNvSpPr/>
          <p:nvPr/>
        </p:nvSpPr>
        <p:spPr>
          <a:xfrm>
            <a:off x="8961120" y="3749040"/>
            <a:ext cx="279806" cy="20116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4"/>
          <p:cNvSpPr/>
          <p:nvPr/>
        </p:nvSpPr>
        <p:spPr>
          <a:xfrm>
            <a:off x="10972800" y="370332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178040" y="4251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961120" y="4297680"/>
            <a:ext cx="2331720" cy="201168"/>
          </a:xfrm>
          <a:prstGeom prst="rect">
            <a:avLst/>
          </a:prstGeom>
          <a:solidFill>
            <a:srgbClr val="0E1426"/>
          </a:solidFill>
          <a:ln/>
        </p:spPr>
      </p:sp>
      <p:sp>
        <p:nvSpPr>
          <p:cNvPr id="32" name="Shape 27"/>
          <p:cNvSpPr/>
          <p:nvPr/>
        </p:nvSpPr>
        <p:spPr>
          <a:xfrm>
            <a:off x="8961120" y="4297680"/>
            <a:ext cx="54864" cy="2011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3" name="Text 28"/>
          <p:cNvSpPr/>
          <p:nvPr/>
        </p:nvSpPr>
        <p:spPr>
          <a:xfrm>
            <a:off x="10972800" y="42519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1%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1개 프로토콜이 86% — 단일 실패점.  이런 토큰이 watchlist에 62종.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해법 /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시뮬레이터가 아니다 — 정확한 매핑 + 검증된 알림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1B2540"/>
          </a:solidFill>
          <a:ln w="19050">
            <a:solidFill>
              <a:srgbClr val="FB4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0482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위험한 놈인가?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총공급 · 24h 변화율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디페그 여부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집중도 (HHI / 상위 보유 %)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토큰별 알림 히스토리 누적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06824" y="17373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2011680"/>
            <a:ext cx="566928" cy="566928"/>
          </a:xfrm>
          <a:prstGeom prst="ellipse">
            <a:avLst/>
          </a:prstGeom>
          <a:solidFill>
            <a:srgbClr val="1B2540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66944" y="20482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66944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어디 박혔나?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역할분포 (담보/공급/LP)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빠질 수 있는 vs 잠긴 유동성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오라클 분류 (시장가/NAV/하드코딩)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· LLTV 분포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65008" y="17373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011680"/>
            <a:ext cx="566928" cy="566928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25128" y="20482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25128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심층 실사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7616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 단위 LTV · top borrowers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크로스체인 분포 (브릿지)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큐레이터별 risk profile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대형 입출금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큐레이터의 실사 순서  =  빌드 우선순위.  디페그 전염은 같은 데이터 위의 선택적 렌즈.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아키텍처 /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3-Tier · Zero-cost · DB가 source of truth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603504" cy="60350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27831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488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· automation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4505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22 + tsx (TypeScript)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30632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viem + Multicall3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 GraphQL · DeFiLlama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cron 루프 (기본 OFF)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07992" y="18745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121408"/>
            <a:ext cx="603504" cy="60350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223" y="2278319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21488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· Postgres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513832" y="24505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TimescaleDB · :5433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00600" y="30632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/ edges 그래프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hypertable (공급)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· bridge_authorities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467344" y="18745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41664" y="2121408"/>
            <a:ext cx="603504" cy="60350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575" y="227831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73184" y="21488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· frontend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473184" y="24505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15 + React Flow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759952" y="30632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가 pg 직독 (백엔드 X)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동심원 익스포저 그래프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판결 · at-risk 곡선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069080" y="3429000"/>
            <a:ext cx="411480" cy="0"/>
          </a:xfrm>
          <a:prstGeom prst="line">
            <a:avLst/>
          </a:prstGeom>
          <a:noFill/>
          <a:ln w="19050">
            <a:solidFill>
              <a:srgbClr val="5E6E90"/>
            </a:solidFill>
            <a:prstDash val="solid"/>
            <a:tailEnd type="triangle"/>
          </a:ln>
        </p:spPr>
      </p:sp>
      <p:sp>
        <p:nvSpPr>
          <p:cNvPr id="23" name="Text 18"/>
          <p:cNvSpPr/>
          <p:nvPr/>
        </p:nvSpPr>
        <p:spPr>
          <a:xfrm>
            <a:off x="3977640" y="3520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6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 INSERT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8028432" y="3429000"/>
            <a:ext cx="411480" cy="0"/>
          </a:xfrm>
          <a:prstGeom prst="line">
            <a:avLst/>
          </a:prstGeom>
          <a:noFill/>
          <a:ln w="19050">
            <a:solidFill>
              <a:srgbClr val="5E6E90"/>
            </a:solidFill>
            <a:prstDash val="solid"/>
            <a:tailEnd type="triangle"/>
          </a:ln>
        </p:spPr>
      </p:sp>
      <p:sp>
        <p:nvSpPr>
          <p:cNvPr id="25" name="Text 20"/>
          <p:cNvSpPr/>
          <p:nvPr/>
        </p:nvSpPr>
        <p:spPr>
          <a:xfrm>
            <a:off x="7936992" y="3520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6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 SELECT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RPC (Alchemy → publicnode) + 무료 API + 로컬 Postgres.  유료(holder/archive)·알림채널·공개배포는 전부 opt-in.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 /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멀티체인 · 정밀+breadth 2레이어 · 신뢰도 1급 노출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watchlist 토큰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173736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8728" y="1874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57016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체인 (정밀 3 + breadth)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73736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874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64224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어댑터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0264" y="173736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3144" y="1874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71432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알림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486400" cy="2423160"/>
          </a:xfrm>
          <a:prstGeom prst="roundRect">
            <a:avLst>
              <a:gd name="adj" fmla="val 3396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794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3-레이어 데이터 소스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26110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06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정밀 (DB)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42062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온체인 검증 — viem/Multicall3 어댑터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773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breadth (라이브)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773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DeFiLlama 전 체인 풀 (검증 보완)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394960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3400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라이브 Morpho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53400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— 마켓별 LLTV·큐레이터 볼트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611880"/>
            <a:ext cx="5376672" cy="2423160"/>
          </a:xfrm>
          <a:prstGeom prst="roundRect">
            <a:avLst>
              <a:gd name="adj" fmla="val 3396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신뢰도를 UI에 1급 노출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4206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실선 ———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0" y="4206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0" y="4206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온체인 검증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47731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점선 - - -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47731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0" y="47731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DeFiLlama breadth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53400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점점선 · · ·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0" y="53400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opaque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26880" y="53400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불가 (이름없는 볼트)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엔진 /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결정론적 리스크 탐지 — 28종 알림 · 자산클래스별 임계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83664"/>
            <a:ext cx="548640" cy="54864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02631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470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민팅 / 공급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13969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A(무담보 backing) · B(무담보민팅) · supply spike · 가치드리프트(NAV×supply)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715768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862072"/>
            <a:ext cx="548640" cy="54864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B4D6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300471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8254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디페깅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63040" y="311810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depeg(부호 인식) · bad debt 임계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694176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840480"/>
            <a:ext cx="548640" cy="54864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A52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9831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039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컨트랙트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409651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오라클/IRM/마켓 변경 · 하드코딩 오라클 전환 · 신규마켓/담보채택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672584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818888"/>
            <a:ext cx="548640" cy="54864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96153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7823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유동성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507492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· liquidity drop · whale unwind · curator derisk · wallet drop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766560" y="1737360"/>
            <a:ext cx="4873752" cy="3246120"/>
          </a:xfrm>
          <a:prstGeom prst="roundRect">
            <a:avLst>
              <a:gd name="adj" fmla="val 2535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995160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라이브 발화 분포 (237건)</a:t>
            </a:r>
            <a:endParaRPr lang="en-US" sz="14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858000" y="2240280"/>
          <a:ext cx="4663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Text 20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자산클래스 (major/stable/stable_soft/pendle_pt/lst/rwa/altcoin) — 클래스별 디페그 band·오라클 heartbeat.  모든 임계값은 config 한 곳, 백테스트로 보정.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9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검증 / BACKTEST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라벨된 과거 사건을 production 알림 함수에 결정론 replay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0C2A20"/>
          </a:solidFill>
          <a:ln w="19050">
            <a:solidFill>
              <a:srgbClr val="29D0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365760" cy="365760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D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통과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783080"/>
            <a:ext cx="2487168" cy="1737360"/>
          </a:xfrm>
          <a:prstGeom prst="roundRect">
            <a:avLst>
              <a:gd name="adj" fmla="val 4737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0" y="1965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9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041648" y="28529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(FN 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10528" y="1783080"/>
            <a:ext cx="2487168" cy="1737360"/>
          </a:xfrm>
          <a:prstGeom prst="roundRect">
            <a:avLst>
              <a:gd name="adj" fmla="val 4737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93408" y="1965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9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711696" y="28529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rate (FORBIDDEN 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0576" y="1783080"/>
            <a:ext cx="2487168" cy="1737360"/>
          </a:xfrm>
          <a:prstGeom prst="roundRect">
            <a:avLst>
              <a:gd name="adj" fmla="val 4737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63456" y="1965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381744" y="28529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구동 case PASS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11091672" cy="2103120"/>
          </a:xfrm>
          <a:prstGeom prst="roundRect">
            <a:avLst>
              <a:gd name="adj" fmla="val 391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사건 / 81 case  ·  구동채점 67  ·  미구동 14 · 부분커버 4 (입력 없는 신호는 정직하게 채점 제외)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구동 신호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846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35224" y="4846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LARGE_SINGLE_MINT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93208" y="4846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TOTAL_SUPPLY_SPIKE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51192" y="4846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UNMATCHED_MINT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409176" y="4846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9176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UNBACKED_SUPPLY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아님 — 결정론. 임계값을 바꾸면 여기서 회귀가 잡힌다.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제품 /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/token/USDe — 하나의 토큰으로 끝내는 실사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" y="1536192"/>
            <a:ext cx="10424160" cy="4736592"/>
          </a:xfrm>
          <a:prstGeom prst="rect">
            <a:avLst/>
          </a:prstGeom>
          <a:solidFill>
            <a:srgbClr val="070A12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Users/hyunie/Desktop/Aave-DependencyMap/risk-exposure-monitoring/presentation/assets/token-us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81912"/>
            <a:ext cx="10332720" cy="46451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" y="63276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 Tier 0 판결 (위험/주의/안전)</a:t>
            </a:r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②  체인별 동심원 익스포저 맵</a:t>
            </a:r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③  실시간 알림 dossier (DB 실데이터)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차별점 /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정직성과 누적이 만드는 해자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658368" cy="65836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2246864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정직성을 1급으로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37360" y="262432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verified/estimated/opaque 신뢰도를 UI에 노출. 모르는 건 모른다고 표시.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075688"/>
            <a:ext cx="658368" cy="65836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128" y="224686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103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알림 히스토리 누적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70064" y="262432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토큰별 위험史가 우리 DB에 쌓임 — 외부 검색 없이, 거의 공짜인 차별점.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178808"/>
            <a:ext cx="658368" cy="65836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4" y="434998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RWA 디스카운트 구분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737360" y="472744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mF-ONE류 의도적 NAV 디스카운트는 정상으로. 비-RWA 고정 오라클은 여전히 위험.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8862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178808"/>
            <a:ext cx="658368" cy="65836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A52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128" y="434998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2개 외부 알고리즘 seam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70064" y="472744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위험알림·자금추적을 계약(source/스키마) 뒤에 꽂아 provider만 교체 — UI 무변경.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데모 / 5분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데모 시나리오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21208" y="1673352"/>
            <a:ext cx="5522976" cy="4078224"/>
          </a:xfrm>
          <a:prstGeom prst="rect">
            <a:avLst/>
          </a:prstGeom>
          <a:solidFill>
            <a:srgbClr val="070A12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Users/hyunie/Desktop/Aave-DependencyMap/risk-exposure-monitoring/presentation/assets/landing.png">    </p:cNvPr>
          <p:cNvPicPr>
            <a:picLocks noChangeAspect="1"/>
          </p:cNvPicPr>
          <p:nvPr/>
        </p:nvPicPr>
        <p:blipFill>
          <a:blip r:embed="rId1"/>
          <a:srcRect l="0" r="0" t="13211" b="13211"/>
          <a:stretch/>
        </p:blipFill>
        <p:spPr>
          <a:xfrm>
            <a:off x="548640" y="1700784"/>
            <a:ext cx="5468112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828800"/>
            <a:ext cx="457200" cy="45720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95160" y="17647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랜딩 개요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95160" y="20756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익스포저 랭킹($26B USDC…) + 실시간 알림 피드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670048"/>
            <a:ext cx="457200" cy="45720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9516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검색 → /token/USDe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995160" y="291693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판결 위험 (HHI 0.76 · critical 2)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55080" y="3511296"/>
            <a:ext cx="457200" cy="45720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95160" y="34472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동심원 그래프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995160" y="375818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체인별 익스포저 (Aave 86%/Convex/Fluid) · 마켓·큐레이터 토글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4352544"/>
            <a:ext cx="457200" cy="45720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95160" y="42885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알림 dossier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995160" y="459943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 — new market(LLTV 91.5%)·liquidity drop·담보채택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55080" y="5193792"/>
            <a:ext cx="457200" cy="45720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95160" y="51297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/multi 비교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995160" y="5440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토큰이 공유하는 프로토콜 = 상관위험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한계 /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지금 안 하는 것, 그리고 다음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A52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084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한계 (현재)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A 라이브 활성은 lock&amp;mint(xERC20 lockbox) 토큰 필요 — 현 위험토큰 9종은 burn&amp;mint/CDP → Detector B+디페그+가치드리프트가 커버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가치드리프트·mintburn·backing은 백테스트 검증됨, 라이브 발화 0 (트리거 조건 미충족) — 정직 표기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그래프-스테이트 타임라인 스크럽 deferred (공급/알림 시계열은 있음, 그래프 영속화 선행)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68112" cy="3931920"/>
          </a:xfrm>
          <a:prstGeom prst="roundRect">
            <a:avLst>
              <a:gd name="adj" fmla="val 2093"/>
            </a:avLst>
          </a:prstGeom>
          <a:solidFill>
            <a:srgbClr val="151D33"/>
          </a:solidFill>
          <a:ln w="12700">
            <a:solidFill>
              <a:srgbClr val="27324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9D08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04888" y="2084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D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다음 (후속)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00800" y="26974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외부 알고리즘(위험알림·자금추적) 통합 — seam은 이미 구축, provider만 교체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곡선(target utilization) 보완 (낮은 가치)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알림 채널 (Discord/Telegram) opt-in 전환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4983480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2A1622"/>
          </a:solidFill>
          <a:ln w="12700">
            <a:solidFill>
              <a:srgbClr val="FB4D6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0" y="498348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 </a:t>
            </a:r>
            <a:pPr indent="0" marL="0">
              <a:buNone/>
            </a:pPr>
            <a:r>
              <a:rPr lang="en-US" sz="115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정량적 전염 시뮬레이션 — attic/ 격리 (스코프 밖)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65760"/>
            <a:ext cx="6035040" cy="603504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2237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1051560"/>
            <a:ext cx="4663440" cy="466344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1E2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1737360"/>
            <a:ext cx="3291840" cy="329184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2237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423160"/>
            <a:ext cx="1920240" cy="192024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1E2E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30175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3822192" y="3319272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Shape 6"/>
          <p:cNvSpPr/>
          <p:nvPr/>
        </p:nvSpPr>
        <p:spPr>
          <a:xfrm>
            <a:off x="-155448" y="350215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2496312" y="4279392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" y="190195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3044952" y="1581912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-704088" y="4873752"/>
            <a:ext cx="146304" cy="146304"/>
          </a:xfrm>
          <a:prstGeom prst="ellipse">
            <a:avLst/>
          </a:prstGeom>
          <a:solidFill>
            <a:srgbClr val="FB4D6A"/>
          </a:solidFill>
          <a:ln/>
        </p:spPr>
      </p:sp>
      <p:sp>
        <p:nvSpPr>
          <p:cNvPr id="13" name="Shape 11"/>
          <p:cNvSpPr/>
          <p:nvPr/>
        </p:nvSpPr>
        <p:spPr>
          <a:xfrm>
            <a:off x="1435608" y="3264408"/>
            <a:ext cx="237744" cy="237744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검증된 상태로 마무리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멀티체인 익스포저 매핑 위에,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7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결정론적이고 백테스트로 검증된 리스크 알림.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397764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5875">
            <a:solidFill>
              <a:srgbClr val="29D0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4128516"/>
            <a:ext cx="128016" cy="128016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18" name="Text 16"/>
          <p:cNvSpPr/>
          <p:nvPr/>
        </p:nvSpPr>
        <p:spPr>
          <a:xfrm>
            <a:off x="5358384" y="397764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 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03720" y="3977640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5875">
            <a:solidFill>
              <a:srgbClr val="29D0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04888" y="4128516"/>
            <a:ext cx="128016" cy="128016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21" name="Text 19"/>
          <p:cNvSpPr/>
          <p:nvPr/>
        </p:nvSpPr>
        <p:spPr>
          <a:xfrm>
            <a:off x="7324344" y="397764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 GREEN · recall 100% / FP 0%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0" y="45262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5875">
            <a:solidFill>
              <a:srgbClr val="29D0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8928" y="4677156"/>
            <a:ext cx="128016" cy="128016"/>
          </a:xfrm>
          <a:prstGeom prst="ellipse">
            <a:avLst/>
          </a:prstGeom>
          <a:solidFill>
            <a:srgbClr val="29D08A"/>
          </a:solidFill>
          <a:ln/>
        </p:spPr>
      </p:sp>
      <p:sp>
        <p:nvSpPr>
          <p:cNvPr id="24" name="Text 22"/>
          <p:cNvSpPr/>
          <p:nvPr/>
        </p:nvSpPr>
        <p:spPr>
          <a:xfrm>
            <a:off x="5358384" y="45262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 build OK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37760" y="6035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 Intelligence  ·  Chain Spiral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Intelligence</dc:title>
  <dc:subject>PptxGenJS Presentation</dc:subject>
  <dc:creator>Exposure Intelligence</dc:creator>
  <cp:lastModifiedBy>Exposure Intelligence</cp:lastModifiedBy>
  <cp:revision>1</cp:revision>
  <dcterms:created xsi:type="dcterms:W3CDTF">2026-06-08T05:56:37Z</dcterms:created>
  <dcterms:modified xsi:type="dcterms:W3CDTF">2026-06-08T05:56:37Z</dcterms:modified>
</cp:coreProperties>
</file>